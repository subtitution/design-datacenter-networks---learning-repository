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99" r:id="rId11"/>
    <p:sldId id="300" r:id="rId12"/>
    <p:sldId id="301" r:id="rId13"/>
    <p:sldId id="263" r:id="rId14"/>
    <p:sldId id="302" r:id="rId15"/>
    <p:sldId id="304" r:id="rId16"/>
    <p:sldId id="30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</p:sldIdLst>
  <p:sldSz cx="9144000" cy="5143500" type="screen16x9"/>
  <p:notesSz cx="6858000" cy="9144000"/>
  <p:embeddedFontLst>
    <p:embeddedFont>
      <p:font typeface="Roboto" panose="020B0604020202020204" charset="0"/>
      <p:regular r:id="rId54"/>
      <p:bold r:id="rId55"/>
      <p:italic r:id="rId56"/>
      <p:boldItalic r:id="rId57"/>
    </p:embeddedFont>
    <p:embeddedFont>
      <p:font typeface="Roboto Medium" panose="020B0604020202020204" charset="0"/>
      <p:regular r:id="rId58"/>
      <p:bold r:id="rId59"/>
      <p:italic r:id="rId60"/>
      <p:boldItalic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8DCB2B-1059-4532-A169-3AAE7BECD37C}">
  <a:tblStyle styleId="{7C8DCB2B-1059-4532-A169-3AAE7BECD3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56" y="740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font" Target="fonts/font2.fntdata"/><Relationship Id="rId63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5" Type="http://schemas.openxmlformats.org/officeDocument/2006/relationships/slide" Target="slides/slide2.xml"/><Relationship Id="rId61" Type="http://schemas.openxmlformats.org/officeDocument/2006/relationships/font" Target="fonts/font8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font" Target="fonts/font3.fntdata"/><Relationship Id="rId64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6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1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font" Target="fonts/font4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font" Target="fonts/font7.fntdata"/><Relationship Id="rId65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8642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3055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03876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0439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98138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46104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f7d84ce1d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0f7d84ce1d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f7d84ce1d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f7d84ce1d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0f7d84ce1d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0f7d84ce1d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ce85d903d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3ce85d903d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3ce85d903d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3ce85d903d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f7d84ce1d_0_2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0f7d84ce1d_0_2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3ce85d903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g33ce85d903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3ce85d903d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3ce85d903d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ce85d903d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3ce85d903d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ce85d903d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ce85d903d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ce85d903d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ce85d903d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3ce85d903d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3ce85d903d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3ce85d903d_0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3ce85d903d_0_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3ce85d903d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3ce85d903d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ce85d903d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3ce85d903d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3ce85d903d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3ce85d903d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3ce85d903d_0_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3ce85d903d_0_5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ce85d903d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3ce85d903d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3ce85d903d_0_6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3ce85d903d_0_6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3ce85d903d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3ce85d903d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3ce85d903d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3ce85d903d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3ce85d903d_0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3ce85d903d_0_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3ce85d903d_0_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3ce85d903d_0_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3ce85d903d_0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3ce85d903d_0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3ce85d903d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3ce85d903d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3ce85d903d_0_7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3ce85d903d_0_7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3ce85d903d_0_7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3ce85d903d_0_7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3ce85d903d_0_7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3ce85d903d_0_7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3ce85d903d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3ce85d903d_0_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3ce85d903d_0_7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3ce85d903d_0_7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ce85d903d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ce85d903d_0_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{7C8DCB2B-1059-4532-A169-3AAE7BECD37C}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{7C8DCB2B-1059-4532-A169-3AAE7BECD37C}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 1">
  <p:cSld name="CUSTOM_2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 1">
  <p:cSld name="CUSTOM_4_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_jBkKU2HRLL26Wzz7eOPESOVAaIuvibp?usp=drive_link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5.png"/><Relationship Id="rId21" Type="http://schemas.openxmlformats.org/officeDocument/2006/relationships/image" Target="../media/image13.png"/><Relationship Id="rId42" Type="http://schemas.openxmlformats.org/officeDocument/2006/relationships/image" Target="../media/image61.png"/><Relationship Id="rId47" Type="http://schemas.openxmlformats.org/officeDocument/2006/relationships/image" Target="../media/image66.png"/><Relationship Id="rId63" Type="http://schemas.openxmlformats.org/officeDocument/2006/relationships/image" Target="../media/image82.png"/><Relationship Id="rId68" Type="http://schemas.openxmlformats.org/officeDocument/2006/relationships/image" Target="../media/image87.png"/><Relationship Id="rId7" Type="http://schemas.openxmlformats.org/officeDocument/2006/relationships/image" Target="../media/image28.png"/><Relationship Id="rId71" Type="http://schemas.openxmlformats.org/officeDocument/2006/relationships/image" Target="../media/image90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24.png"/><Relationship Id="rId29" Type="http://schemas.openxmlformats.org/officeDocument/2006/relationships/image" Target="../media/image48.png"/><Relationship Id="rId11" Type="http://schemas.openxmlformats.org/officeDocument/2006/relationships/image" Target="../media/image32.png"/><Relationship Id="rId24" Type="http://schemas.openxmlformats.org/officeDocument/2006/relationships/image" Target="../media/image43.png"/><Relationship Id="rId32" Type="http://schemas.openxmlformats.org/officeDocument/2006/relationships/image" Target="../media/image51.png"/><Relationship Id="rId37" Type="http://schemas.openxmlformats.org/officeDocument/2006/relationships/image" Target="../media/image56.png"/><Relationship Id="rId40" Type="http://schemas.openxmlformats.org/officeDocument/2006/relationships/image" Target="../media/image59.png"/><Relationship Id="rId45" Type="http://schemas.openxmlformats.org/officeDocument/2006/relationships/image" Target="../media/image64.png"/><Relationship Id="rId53" Type="http://schemas.openxmlformats.org/officeDocument/2006/relationships/image" Target="../media/image72.png"/><Relationship Id="rId58" Type="http://schemas.openxmlformats.org/officeDocument/2006/relationships/image" Target="../media/image77.png"/><Relationship Id="rId66" Type="http://schemas.openxmlformats.org/officeDocument/2006/relationships/image" Target="../media/image85.png"/><Relationship Id="rId5" Type="http://schemas.openxmlformats.org/officeDocument/2006/relationships/image" Target="../media/image23.png"/><Relationship Id="rId61" Type="http://schemas.openxmlformats.org/officeDocument/2006/relationships/image" Target="../media/image80.png"/><Relationship Id="rId19" Type="http://schemas.openxmlformats.org/officeDocument/2006/relationships/image" Target="../media/image39.png"/><Relationship Id="rId14" Type="http://schemas.openxmlformats.org/officeDocument/2006/relationships/image" Target="../media/image35.png"/><Relationship Id="rId22" Type="http://schemas.openxmlformats.org/officeDocument/2006/relationships/image" Target="../media/image41.png"/><Relationship Id="rId27" Type="http://schemas.openxmlformats.org/officeDocument/2006/relationships/image" Target="../media/image46.png"/><Relationship Id="rId30" Type="http://schemas.openxmlformats.org/officeDocument/2006/relationships/image" Target="../media/image49.png"/><Relationship Id="rId35" Type="http://schemas.openxmlformats.org/officeDocument/2006/relationships/image" Target="../media/image54.png"/><Relationship Id="rId43" Type="http://schemas.openxmlformats.org/officeDocument/2006/relationships/image" Target="../media/image62.png"/><Relationship Id="rId48" Type="http://schemas.openxmlformats.org/officeDocument/2006/relationships/image" Target="../media/image67.png"/><Relationship Id="rId56" Type="http://schemas.openxmlformats.org/officeDocument/2006/relationships/image" Target="../media/image75.png"/><Relationship Id="rId64" Type="http://schemas.openxmlformats.org/officeDocument/2006/relationships/image" Target="../media/image83.png"/><Relationship Id="rId69" Type="http://schemas.openxmlformats.org/officeDocument/2006/relationships/image" Target="../media/image88.png"/><Relationship Id="rId8" Type="http://schemas.openxmlformats.org/officeDocument/2006/relationships/image" Target="../media/image29.png"/><Relationship Id="rId51" Type="http://schemas.openxmlformats.org/officeDocument/2006/relationships/image" Target="../media/image70.png"/><Relationship Id="rId3" Type="http://schemas.openxmlformats.org/officeDocument/2006/relationships/image" Target="../media/image25.png"/><Relationship Id="rId12" Type="http://schemas.openxmlformats.org/officeDocument/2006/relationships/image" Target="../media/image33.png"/><Relationship Id="rId17" Type="http://schemas.openxmlformats.org/officeDocument/2006/relationships/image" Target="../media/image37.png"/><Relationship Id="rId25" Type="http://schemas.openxmlformats.org/officeDocument/2006/relationships/image" Target="../media/image44.png"/><Relationship Id="rId33" Type="http://schemas.openxmlformats.org/officeDocument/2006/relationships/image" Target="../media/image52.png"/><Relationship Id="rId38" Type="http://schemas.openxmlformats.org/officeDocument/2006/relationships/image" Target="../media/image57.png"/><Relationship Id="rId46" Type="http://schemas.openxmlformats.org/officeDocument/2006/relationships/image" Target="../media/image65.png"/><Relationship Id="rId59" Type="http://schemas.openxmlformats.org/officeDocument/2006/relationships/image" Target="../media/image78.png"/><Relationship Id="rId67" Type="http://schemas.openxmlformats.org/officeDocument/2006/relationships/image" Target="../media/image86.png"/><Relationship Id="rId20" Type="http://schemas.openxmlformats.org/officeDocument/2006/relationships/image" Target="../media/image40.png"/><Relationship Id="rId41" Type="http://schemas.openxmlformats.org/officeDocument/2006/relationships/image" Target="../media/image60.png"/><Relationship Id="rId54" Type="http://schemas.openxmlformats.org/officeDocument/2006/relationships/image" Target="../media/image73.png"/><Relationship Id="rId62" Type="http://schemas.openxmlformats.org/officeDocument/2006/relationships/image" Target="../media/image81.png"/><Relationship Id="rId70" Type="http://schemas.openxmlformats.org/officeDocument/2006/relationships/image" Target="../media/image89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7.png"/><Relationship Id="rId15" Type="http://schemas.openxmlformats.org/officeDocument/2006/relationships/image" Target="../media/image36.png"/><Relationship Id="rId23" Type="http://schemas.openxmlformats.org/officeDocument/2006/relationships/image" Target="../media/image42.png"/><Relationship Id="rId28" Type="http://schemas.openxmlformats.org/officeDocument/2006/relationships/image" Target="../media/image47.png"/><Relationship Id="rId36" Type="http://schemas.openxmlformats.org/officeDocument/2006/relationships/image" Target="../media/image55.png"/><Relationship Id="rId49" Type="http://schemas.openxmlformats.org/officeDocument/2006/relationships/image" Target="../media/image68.png"/><Relationship Id="rId57" Type="http://schemas.openxmlformats.org/officeDocument/2006/relationships/image" Target="../media/image76.png"/><Relationship Id="rId10" Type="http://schemas.openxmlformats.org/officeDocument/2006/relationships/image" Target="../media/image31.png"/><Relationship Id="rId31" Type="http://schemas.openxmlformats.org/officeDocument/2006/relationships/image" Target="../media/image50.png"/><Relationship Id="rId44" Type="http://schemas.openxmlformats.org/officeDocument/2006/relationships/image" Target="../media/image63.png"/><Relationship Id="rId52" Type="http://schemas.openxmlformats.org/officeDocument/2006/relationships/image" Target="../media/image71.png"/><Relationship Id="rId60" Type="http://schemas.openxmlformats.org/officeDocument/2006/relationships/image" Target="../media/image79.png"/><Relationship Id="rId65" Type="http://schemas.openxmlformats.org/officeDocument/2006/relationships/image" Target="../media/image84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13" Type="http://schemas.openxmlformats.org/officeDocument/2006/relationships/image" Target="../media/image34.png"/><Relationship Id="rId18" Type="http://schemas.openxmlformats.org/officeDocument/2006/relationships/image" Target="../media/image38.png"/><Relationship Id="rId39" Type="http://schemas.openxmlformats.org/officeDocument/2006/relationships/image" Target="../media/image58.png"/><Relationship Id="rId34" Type="http://schemas.openxmlformats.org/officeDocument/2006/relationships/image" Target="../media/image53.png"/><Relationship Id="rId50" Type="http://schemas.openxmlformats.org/officeDocument/2006/relationships/image" Target="../media/image69.png"/><Relationship Id="rId55" Type="http://schemas.openxmlformats.org/officeDocument/2006/relationships/image" Target="../media/image7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1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rosatom/articles/841842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0.png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10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1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629700" y="2666069"/>
            <a:ext cx="7584300" cy="1071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ru-RU" sz="3200" b="1" dirty="0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</a:rPr>
              <a:t>Использование </a:t>
            </a:r>
            <a:r>
              <a:rPr lang="en-US" sz="3200" b="1" dirty="0" err="1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</a:rPr>
              <a:t>evpn</a:t>
            </a:r>
            <a:r>
              <a:rPr lang="en-US" sz="3200" b="1" dirty="0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</a:rPr>
              <a:t> route type 5 </a:t>
            </a:r>
            <a:r>
              <a:rPr lang="ru-RU" sz="3200" b="1" dirty="0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</a:rPr>
              <a:t>маршрутов</a:t>
            </a:r>
            <a:endParaRPr sz="3200" b="1" dirty="0">
              <a:solidFill>
                <a:schemeClr val="bg1"/>
              </a:solidFill>
              <a:latin typeface="Roboto" panose="020B0604020202020204" charset="0"/>
              <a:ea typeface="Roboto" panose="020B0604020202020204" charset="0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629700" y="4127432"/>
            <a:ext cx="2407800" cy="44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ru-RU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Дизайн сетей ЦОД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lvl="0">
              <a:buSzPts val="1100"/>
            </a:pPr>
            <a:r>
              <a:rPr lang="ru" sz="3000" dirty="0"/>
              <a:t>Тема:</a:t>
            </a:r>
            <a:r>
              <a:rPr lang="ru-RU" sz="2400" dirty="0"/>
              <a:t> Использование </a:t>
            </a:r>
            <a:r>
              <a:rPr lang="en-US" sz="2400" dirty="0" err="1"/>
              <a:t>evpn</a:t>
            </a:r>
            <a:r>
              <a:rPr lang="en-US" sz="2400" dirty="0"/>
              <a:t> route type 5 </a:t>
            </a:r>
            <a:r>
              <a:rPr lang="ru-RU" sz="2400" dirty="0"/>
              <a:t>маршрутов</a:t>
            </a: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Дмитрий Михайлович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Ивкин</a:t>
            </a: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65943"/>
            <a:ext cx="3193200" cy="1625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Более 20 лет в </a:t>
            </a:r>
            <a:r>
              <a:rPr lang="en-US" sz="1300" dirty="0">
                <a:latin typeface="Roboto Medium"/>
                <a:ea typeface="Roboto Medium"/>
                <a:cs typeface="Roboto Medium"/>
                <a:sym typeface="Roboto Medium"/>
              </a:rPr>
              <a:t>I</a:t>
            </a: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Т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Опыт работы в крупных интеграторах, таких как: </a:t>
            </a:r>
            <a:r>
              <a:rPr lang="ru-RU" sz="1300" b="1" dirty="0" err="1">
                <a:latin typeface="Roboto Medium"/>
                <a:ea typeface="Roboto Medium"/>
                <a:cs typeface="Roboto Medium"/>
                <a:sym typeface="Roboto Medium"/>
              </a:rPr>
              <a:t>Техносерв</a:t>
            </a:r>
            <a:r>
              <a:rPr lang="ru-RU" sz="1300" b="1" dirty="0">
                <a:latin typeface="Roboto Medium"/>
                <a:ea typeface="Roboto Medium"/>
                <a:cs typeface="Roboto Medium"/>
                <a:sym typeface="Roboto Medium"/>
              </a:rPr>
              <a:t>, </a:t>
            </a:r>
            <a:r>
              <a:rPr lang="en-US" sz="1300" b="1" dirty="0">
                <a:latin typeface="Roboto Medium"/>
                <a:ea typeface="Roboto Medium"/>
                <a:cs typeface="Roboto Medium"/>
                <a:sym typeface="Roboto Medium"/>
              </a:rPr>
              <a:t>I-</a:t>
            </a:r>
            <a:r>
              <a:rPr lang="en-US" sz="1300" b="1" dirty="0" err="1">
                <a:latin typeface="Roboto Medium"/>
                <a:ea typeface="Roboto Medium"/>
                <a:cs typeface="Roboto Medium"/>
                <a:sym typeface="Roboto Medium"/>
              </a:rPr>
              <a:t>teco</a:t>
            </a:r>
            <a:r>
              <a:rPr lang="en-US" sz="1300" b="1" dirty="0">
                <a:latin typeface="Roboto Medium"/>
                <a:ea typeface="Roboto Medium"/>
                <a:cs typeface="Roboto Medium"/>
                <a:sym typeface="Roboto Medium"/>
              </a:rPr>
              <a:t>, </a:t>
            </a:r>
            <a:r>
              <a:rPr lang="ru-RU" sz="1300" b="1" dirty="0" err="1">
                <a:latin typeface="Roboto Medium"/>
                <a:ea typeface="Roboto Medium"/>
                <a:cs typeface="Roboto Medium"/>
                <a:sym typeface="Roboto Medium"/>
              </a:rPr>
              <a:t>Рубитех</a:t>
            </a: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.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00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Сертификация: </a:t>
            </a:r>
            <a:r>
              <a:rPr lang="en-US" sz="1300" b="1" dirty="0">
                <a:latin typeface="Roboto Medium"/>
                <a:ea typeface="Roboto Medium"/>
                <a:cs typeface="Roboto Medium"/>
                <a:sym typeface="Roboto Medium"/>
              </a:rPr>
              <a:t>CCNP RS, CCNP Collaboration, CCNP Design </a:t>
            </a:r>
            <a:r>
              <a:rPr lang="en-US" sz="1300" b="1" dirty="0" err="1">
                <a:latin typeface="Roboto Medium"/>
                <a:ea typeface="Roboto Medium"/>
                <a:cs typeface="Roboto Medium"/>
                <a:sym typeface="Roboto Medium"/>
              </a:rPr>
              <a:t>Architecor</a:t>
            </a:r>
            <a:endParaRPr lang="en-US" sz="1300" b="1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51A84CD-B121-4A84-B8C8-3ED7565A4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50" y="2413037"/>
            <a:ext cx="2266950" cy="1581150"/>
          </a:xfrm>
          <a:prstGeom prst="flowChartConnector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4132639125"/>
              </p:ext>
            </p:extLst>
          </p:nvPr>
        </p:nvGraphicFramePr>
        <p:xfrm>
          <a:off x="952500" y="2382125"/>
          <a:ext cx="7239000" cy="2350269"/>
        </p:xfrm>
        <a:graphic>
          <a:graphicData uri="http://schemas.openxmlformats.org/drawingml/2006/table">
            <a:tbl>
              <a:tblPr>
                <a:noFill/>
                <a:tableStyleId>{7C8DCB2B-1059-4532-A169-3AAE7BECD37C}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Аналитический обзор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: Изучить теоретические основы 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EVPN 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и структуру 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NLRI (Network Layer Reachability Information) 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для маршрутов 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Type 5. 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Выделить отличия от 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Type 2 (MAC/IP) 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и 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Type 3 (Inclusive Multicast).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Рассмотреть вариант использования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Type 5</a:t>
                      </a:r>
                      <a:r>
                        <a:rPr lang="ru-RU" sz="1400" b="1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маршрутов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Arial"/>
                        <a:sym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Сделать выводы по результатам анализа данных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выполнения лабораторной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477176" y="1340869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</a:t>
            </a:r>
            <a:r>
              <a:rPr lang="ru-RU" dirty="0"/>
              <a:t>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</a:rPr>
              <a:t>изучить функциональное назначение и сценарии применения маршрутов EVPN </a:t>
            </a:r>
            <a:r>
              <a:rPr lang="ru-RU" sz="1500" dirty="0" err="1">
                <a:solidFill>
                  <a:schemeClr val="dk1"/>
                </a:solidFill>
                <a:latin typeface="Roboto Medium"/>
                <a:ea typeface="Roboto Medium"/>
              </a:rPr>
              <a:t>Type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</a:rPr>
              <a:t> 5 (IP </a:t>
            </a:r>
            <a:r>
              <a:rPr lang="ru-RU" sz="1500" dirty="0" err="1">
                <a:solidFill>
                  <a:schemeClr val="dk1"/>
                </a:solidFill>
                <a:latin typeface="Roboto Medium"/>
                <a:ea typeface="Roboto Medium"/>
              </a:rPr>
              <a:t>Prefix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</a:rPr>
              <a:t> </a:t>
            </a:r>
            <a:r>
              <a:rPr lang="ru-RU" sz="1500" dirty="0" err="1">
                <a:solidFill>
                  <a:schemeClr val="dk1"/>
                </a:solidFill>
                <a:latin typeface="Roboto Medium"/>
                <a:ea typeface="Roboto Medium"/>
              </a:rPr>
              <a:t>Route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</a:rPr>
              <a:t>) </a:t>
            </a:r>
            <a:endParaRPr sz="1500" dirty="0">
              <a:solidFill>
                <a:schemeClr val="dk1"/>
              </a:solidFill>
              <a:latin typeface="Roboto Medium"/>
              <a:ea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Какие технологии использовались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366763061"/>
              </p:ext>
            </p:extLst>
          </p:nvPr>
        </p:nvGraphicFramePr>
        <p:xfrm>
          <a:off x="735143" y="1125781"/>
          <a:ext cx="7239000" cy="4780130"/>
        </p:xfrm>
        <a:graphic>
          <a:graphicData uri="http://schemas.openxmlformats.org/drawingml/2006/table">
            <a:tbl>
              <a:tblPr>
                <a:noFill/>
                <a:tableStyleId>{7C8DCB2B-1059-4532-A169-3AAE7BECD37C}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784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Базовые протоколы </a:t>
                      </a: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Underlay: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eBGP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(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для достижения соседства между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VTEP 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Loopback-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адресами).</a:t>
                      </a:r>
                    </a:p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Протокол </a:t>
                      </a: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Overlay: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MP-BGP EVPN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(Multiprotocol BGP with EVPN address-family) — 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основная технология для передачи маршрутов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Type 1-5.</a:t>
                      </a:r>
                    </a:p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Туннелирование:</a:t>
                      </a:r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lvl="1"/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VXLAN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(Virtual Extensible LAN) — 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как основной способ инкапсуляции трафика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L2/L3 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поверх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IP-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сети (использовался в лабораторной работе).</a:t>
                      </a:r>
                    </a:p>
                    <a:p>
                      <a:pPr lvl="1"/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Сетевая эмуляция: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EVE-NG Community Edition (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или аналог) для развертывания виртуальных образов сетевого оборудования (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Arista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vEOS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</a:p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Анализ трафика: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Wireshark (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для захвата пакетов на интерфейсах и декодирования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NLRI EVPN).</a:t>
                      </a:r>
                    </a:p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Операционная система сетевых устройств: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Arista EOS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7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7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7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7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C</a:t>
            </a:r>
            <a:r>
              <a:rPr lang="ru-RU" sz="3000" dirty="0" err="1"/>
              <a:t>хема</a:t>
            </a:r>
            <a:r>
              <a:rPr lang="ru-RU" sz="3000" dirty="0"/>
              <a:t> стенда</a:t>
            </a:r>
            <a:br>
              <a:rPr lang="ru-RU" sz="3000" dirty="0"/>
            </a:br>
            <a:endParaRPr sz="3000" dirty="0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BCBE6BFC-40F6-4157-98A6-0F4616908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0" y="809469"/>
            <a:ext cx="8961190" cy="4272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Как передать </a:t>
            </a:r>
            <a:r>
              <a:rPr lang="en-US" sz="3000" dirty="0"/>
              <a:t>Route type 5 </a:t>
            </a:r>
            <a:r>
              <a:rPr lang="ru-RU" sz="3000" dirty="0"/>
              <a:t>маршрут?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2129581522"/>
              </p:ext>
            </p:extLst>
          </p:nvPr>
        </p:nvGraphicFramePr>
        <p:xfrm>
          <a:off x="735143" y="1125781"/>
          <a:ext cx="7239000" cy="5645762"/>
        </p:xfrm>
        <a:graphic>
          <a:graphicData uri="http://schemas.openxmlformats.org/drawingml/2006/table">
            <a:tbl>
              <a:tblPr>
                <a:noFill/>
                <a:tableStyleId>{7C8DCB2B-1059-4532-A169-3AAE7BECD37C}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784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Глобально существует 3-и способа передать маршруты ipv4 из глобальной таблицы маршрутизации в EVPN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route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5.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1. VXLAN L3VPN с использованием СТАТИЧЕСКИХ Маршрутов</a:t>
                      </a:r>
                    </a:p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1-й способ использовать статические маршруты (большие минусы, так как плохо масштабируемая история)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2. L3VPN c использованием VRF поверх BGP</a:t>
                      </a:r>
                    </a:p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Хотя такая конфигурация масштабируется лучше, чем использование только статических маршрутов, мы по-прежнему полагаемся на статические маршруты для подключения VXLAN.</a:t>
                      </a:r>
                    </a:p>
                    <a:p>
                      <a:br>
                        <a:rPr lang="ru-RU" sz="1600" dirty="0"/>
                      </a:b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L3VPN с EVPN-ном</a:t>
                      </a:r>
                    </a:p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Это наиболее масштабируемое решение для VXLAN L3VPN.</a:t>
                      </a:r>
                      <a:b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7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7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7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7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044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Что такое VRF-система и зачем она нам нужна?</a:t>
            </a:r>
            <a:br>
              <a:rPr lang="ru-RU" dirty="0"/>
            </a:br>
            <a:endParaRPr sz="3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2794162002"/>
              </p:ext>
            </p:extLst>
          </p:nvPr>
        </p:nvGraphicFramePr>
        <p:xfrm>
          <a:off x="262953" y="1545506"/>
          <a:ext cx="7239000" cy="5697578"/>
        </p:xfrm>
        <a:graphic>
          <a:graphicData uri="http://schemas.openxmlformats.org/drawingml/2006/table">
            <a:tbl>
              <a:tblPr>
                <a:noFill/>
                <a:tableStyleId>{7C8DCB2B-1059-4532-A169-3AAE7BECD37C}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784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VRF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— это сокращение от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Virtual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Routing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Forwarding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(виртуальная пересылка маршрутов).</a:t>
                      </a:r>
                    </a:p>
                    <a:p>
                      <a:b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При создании VRF внутри маршрутизатора создается виртуальная таблица маршрутизации.</a:t>
                      </a:r>
                    </a:p>
                    <a:p>
                      <a:b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Затем вы можете назначить интерфейсы для VRF. Трафик, поступающий на этот интерфейс, будет маршрутизироваться в соответствии с маршрутами в этом конкретном VRF.</a:t>
                      </a:r>
                      <a:b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 так я выбрал 2-й вариант с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vrf-ами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b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 так как мы видели ниже, на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EdgeRouter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прилетели маршруты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Route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5 из нашей фабрики.</a:t>
                      </a:r>
                      <a:b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пример вывода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маршутов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5-го типа на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Edge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Router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представлены ниже: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7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7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7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7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3382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 rot="16200000">
            <a:off x="-3651726" y="398180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/>
              <a:t>Пример вывода </a:t>
            </a:r>
            <a:r>
              <a:rPr lang="en-US" sz="1800" dirty="0"/>
              <a:t>Route type 5 </a:t>
            </a:r>
            <a:r>
              <a:rPr lang="ru-RU" sz="1800" dirty="0"/>
              <a:t>маршрутов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3E9FF6-848C-4363-BA4B-87B31FAE8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488" y="142407"/>
            <a:ext cx="6727139" cy="500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68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 rot="16200000">
            <a:off x="-3591765" y="335250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/>
              <a:t>Пример основных настроек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E1AC028-3F92-4EA4-AEF8-B3B9DA895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88" y="0"/>
            <a:ext cx="3949212" cy="5143500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EE8BF7F-DDCA-471C-92CC-5DC6F752A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8002" y="0"/>
            <a:ext cx="346563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3852642916"/>
              </p:ext>
            </p:extLst>
          </p:nvPr>
        </p:nvGraphicFramePr>
        <p:xfrm>
          <a:off x="442835" y="976388"/>
          <a:ext cx="7239000" cy="5829688"/>
        </p:xfrm>
        <a:graphic>
          <a:graphicData uri="http://schemas.openxmlformats.org/drawingml/2006/table">
            <a:tbl>
              <a:tblPr>
                <a:noFill/>
                <a:tableStyleId>{7C8DCB2B-1059-4532-A169-3AAE7BECD37C}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Основное назначение: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Маршруты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5 необходимы для анонсирования </a:t>
                      </a: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IP-префиксов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(а не только MAC-адресов) в фабрике EVPN. Это ключевое отличие от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2.</a:t>
                      </a:r>
                    </a:p>
                    <a:p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Основной сценарий использования: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Выявлено, что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5 критически важен при построении </a:t>
                      </a: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распределенной (</a:t>
                      </a:r>
                      <a:r>
                        <a:rPr lang="ru-RU" sz="14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Anycast</a:t>
                      </a: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 шлюзовой функциональности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 Без него хосты из разных сегментов (VNI) не смогут обмениваться трафиком через граничных шлюзов (VTEP), если только не используется «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Flood and learning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" (чего лучше избегать).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Интеграция с внешним миром: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При подключении классического L3VPN (или интернета) к фабрике ЦОД,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5 — это единственный способ корректно импортировать внешние маршруты внутрь EVPN и экспортировать подсети виртуальных машин наружу, минуя единую точку отказа (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файрвол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/роутер).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Оптимизация трафика: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Использование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5 в симметричной модели позволяет избежать неэффективной маршрутизации (трафик не ходит "зигзагом" через центральный шлюз), что снижает задержки.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3934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>
            <p:extLst/>
          </p:nvPr>
        </p:nvGraphicFramePr>
        <p:xfrm>
          <a:off x="442835" y="976388"/>
          <a:ext cx="7239000" cy="5829688"/>
        </p:xfrm>
        <a:graphic>
          <a:graphicData uri="http://schemas.openxmlformats.org/drawingml/2006/table">
            <a:tbl>
              <a:tblPr>
                <a:noFill/>
                <a:tableStyleId>{7C8DCB2B-1059-4532-A169-3AAE7BECD37C}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Основное назначение: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Маршруты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5 необходимы для анонсирования </a:t>
                      </a: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IP-префиксов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(а не только MAC-адресов) в фабрике EVPN. Это ключевое отличие от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2.</a:t>
                      </a:r>
                    </a:p>
                    <a:p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Основной сценарий использования: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Выявлено, что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5 критически важен при построении </a:t>
                      </a: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распределенной (</a:t>
                      </a:r>
                      <a:r>
                        <a:rPr lang="ru-RU" sz="14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Anycast</a:t>
                      </a: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 шлюзовой функциональности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 Без него хосты из разных сегментов (VNI) не смогут обмениваться трафиком через граничных шлюзов (VTEP), если только не используется «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Flood and learning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" (чего лучше избегать).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Интеграция с внешним миром: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При подключении классического L3VPN (или интернета) к фабрике ЦОД,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5 — это единственный способ корректно импортировать внешние маршруты внутрь EVPN и экспортировать подсети виртуальных машин наружу, минуя единую точку отказа (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файрвол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/роутер).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Оптимизация трафика: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Использование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5 в симметричной модели позволяет избежать неэффективной маршрутизации (трафик не ходит "зигзагом" через центральный шлюз), что снижает задержки.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9151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2012526871"/>
              </p:ext>
            </p:extLst>
          </p:nvPr>
        </p:nvGraphicFramePr>
        <p:xfrm>
          <a:off x="353777" y="989668"/>
          <a:ext cx="7239000" cy="2581536"/>
        </p:xfrm>
        <a:graphic>
          <a:graphicData uri="http://schemas.openxmlformats.org/drawingml/2006/table">
            <a:tbl>
              <a:tblPr>
                <a:noFill/>
                <a:tableStyleId>{7C8DCB2B-1059-4532-A169-3AAE7BECD37C}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1. </a:t>
                      </a: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Получилось передать </a:t>
                      </a: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Route type 5 </a:t>
                      </a: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маршруты на </a:t>
                      </a: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Edge Router</a:t>
                      </a:r>
                    </a:p>
                    <a:p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2. </a:t>
                      </a: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Не получилось передать маршруты </a:t>
                      </a: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5-</a:t>
                      </a:r>
                      <a:r>
                        <a:rPr lang="ru-RU" sz="14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го</a:t>
                      </a: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типа</a:t>
                      </a: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от </a:t>
                      </a:r>
                      <a:r>
                        <a:rPr lang="en-US" sz="14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EdgeRouter</a:t>
                      </a:r>
                      <a:endParaRPr lang="ru-RU" sz="140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3. По времени ушло довольно много, не учтено</a:t>
                      </a:r>
                    </a:p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4. 10 баллов за полезность</a:t>
                      </a:r>
                    </a:p>
                    <a:p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5. Надеюсь появятся проекты по разработке и внедрению ЦОД.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5" name="Google Shape;21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308" y="7532769"/>
            <a:ext cx="5534664" cy="2335504"/>
          </a:xfrm>
          <a:prstGeom prst="rect">
            <a:avLst/>
          </a:prstGeom>
          <a:noFill/>
          <a:ln>
            <a:noFill/>
          </a:ln>
          <a:effectLst>
            <a:outerShdw blurRad="200025" dist="28575" dir="4200000" algn="bl" rotWithShape="0">
              <a:srgbClr val="000000">
                <a:alpha val="3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1091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7" name="Google Shape;227;p43"/>
          <p:cNvGrpSpPr/>
          <p:nvPr/>
        </p:nvGrpSpPr>
        <p:grpSpPr>
          <a:xfrm>
            <a:off x="5573613" y="528650"/>
            <a:ext cx="3356305" cy="1236599"/>
            <a:chOff x="4729635" y="887067"/>
            <a:chExt cx="3375207" cy="1399343"/>
          </a:xfrm>
        </p:grpSpPr>
        <p:pic>
          <p:nvPicPr>
            <p:cNvPr id="228" name="Google Shape;22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229" name="Google Shape;229;p43"/>
            <p:cNvSpPr txBox="1"/>
            <p:nvPr/>
          </p:nvSpPr>
          <p:spPr>
            <a:xfrm>
              <a:off x="5236901" y="1064135"/>
              <a:ext cx="26946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Ответьте на вопросы одногруппников и преподавателей и получите обратную связь на свою работу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Инструменты для работы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 презентацией</a:t>
            </a:r>
            <a:endParaRPr/>
          </a:p>
        </p:txBody>
      </p:sp>
      <p:pic>
        <p:nvPicPr>
          <p:cNvPr id="247" name="Google Shape;24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7"/>
          <p:cNvSpPr txBox="1"/>
          <p:nvPr/>
        </p:nvSpPr>
        <p:spPr>
          <a:xfrm>
            <a:off x="629988" y="691425"/>
            <a:ext cx="8423400" cy="3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1. Текст: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«Одна мысль — один слайд»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Размещайте на каждом слайде до 5 строк текста, не более 5 слов в каждой строке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Выделяйте главные идеи с помощью размера и цвета шрифта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подзаголовки, если заголовок слишком длинный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Группируйте информацию в визуальные блоки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Делите большие текстовые блоки на колонки или списки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стрелки для обозначения последовательности информации 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Чередуйте текстовые блоки с графическими элементами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2. Используйте шрифт Roboto, кегль: заголовок – 25-30, подзаголовок –  17, 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основной текст – 15-12, межстрочный интервал 1,15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8"/>
          <p:cNvSpPr txBox="1"/>
          <p:nvPr/>
        </p:nvSpPr>
        <p:spPr>
          <a:xfrm>
            <a:off x="629988" y="781050"/>
            <a:ext cx="8423400" cy="21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Используйте нашу фирменную цветовую палитру (её найдете в следующем слайде) 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Визуальные материалы: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Добавляйте релевантные изображения к текстовым блокам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иконки или эмодзи для визуализации ключевых пунктов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инфографику для визуализации сложной информации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ru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качественные изображения вы можете взять </a:t>
            </a:r>
            <a:r>
              <a:rPr lang="ru" b="1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в папке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675" y="2576650"/>
            <a:ext cx="348500" cy="3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252" y="2724091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5266" y="583317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4266" y="2316545"/>
            <a:ext cx="555893" cy="555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1465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6919" y="3834697"/>
            <a:ext cx="424366" cy="42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57775" y="585425"/>
            <a:ext cx="495295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94545" y="4262483"/>
            <a:ext cx="360144" cy="36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05173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01471" y="3985239"/>
            <a:ext cx="508703" cy="508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9009" y="539005"/>
            <a:ext cx="588135" cy="588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30352" y="4433144"/>
            <a:ext cx="404216" cy="40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901362" y="561770"/>
            <a:ext cx="542605" cy="542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8859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4269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054328" y="4448785"/>
            <a:ext cx="372935" cy="37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237883" y="3979170"/>
            <a:ext cx="520847" cy="52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207788" y="3288498"/>
            <a:ext cx="595986" cy="595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9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19053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9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172209" y="1391638"/>
            <a:ext cx="493512" cy="49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9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150853" y="1403354"/>
            <a:ext cx="470080" cy="4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9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52077" y="4281498"/>
            <a:ext cx="537109" cy="53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9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19706" y="1355027"/>
            <a:ext cx="566735" cy="56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9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187775" y="2316539"/>
            <a:ext cx="493249" cy="4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9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961355" y="2667110"/>
            <a:ext cx="588118" cy="58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9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7710770" y="3352476"/>
            <a:ext cx="468034" cy="468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9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5181495" y="2922709"/>
            <a:ext cx="493249" cy="493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9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2131524" y="273059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9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009998" y="2316535"/>
            <a:ext cx="530079" cy="530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9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54454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9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107863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9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1053627" y="4248959"/>
            <a:ext cx="602188" cy="602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9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469475" y="2745317"/>
            <a:ext cx="470090" cy="470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9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2316972" y="556974"/>
            <a:ext cx="552197" cy="55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9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4554831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9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4022582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9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4554831" y="2329119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9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5663349" y="2901775"/>
            <a:ext cx="597725" cy="59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9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1985334" y="3818550"/>
            <a:ext cx="456645" cy="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9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143404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9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188517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9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2026525" y="4443213"/>
            <a:ext cx="384075" cy="3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9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2502160" y="3844766"/>
            <a:ext cx="404231" cy="404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9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4375738" y="4226469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9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3919814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9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4381317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9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5421140" y="4251223"/>
            <a:ext cx="382690" cy="382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9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1561510" y="1329664"/>
            <a:ext cx="617460" cy="617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9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7078625" y="58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9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7121933" y="113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9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 rot="808536">
            <a:off x="8249366" y="2529116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9"/>
          <p:cNvPicPr preferRelativeResize="0"/>
          <p:nvPr/>
        </p:nvPicPr>
        <p:blipFill>
          <a:blip r:embed="rId53">
            <a:alphaModFix/>
          </a:blip>
          <a:stretch>
            <a:fillRect/>
          </a:stretch>
        </p:blipFill>
        <p:spPr>
          <a:xfrm>
            <a:off x="7692265" y="249421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9"/>
          <p:cNvPicPr preferRelativeResize="0"/>
          <p:nvPr/>
        </p:nvPicPr>
        <p:blipFill>
          <a:blip r:embed="rId54">
            <a:alphaModFix/>
          </a:blip>
          <a:stretch>
            <a:fillRect/>
          </a:stretch>
        </p:blipFill>
        <p:spPr>
          <a:xfrm>
            <a:off x="7202083" y="2494244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9"/>
          <p:cNvPicPr preferRelativeResize="0"/>
          <p:nvPr/>
        </p:nvPicPr>
        <p:blipFill>
          <a:blip r:embed="rId55">
            <a:alphaModFix/>
          </a:blip>
          <a:stretch>
            <a:fillRect/>
          </a:stretch>
        </p:blipFill>
        <p:spPr>
          <a:xfrm>
            <a:off x="7202071" y="1974083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9"/>
          <p:cNvPicPr preferRelativeResize="0"/>
          <p:nvPr/>
        </p:nvPicPr>
        <p:blipFill>
          <a:blip r:embed="rId56">
            <a:alphaModFix/>
          </a:blip>
          <a:stretch>
            <a:fillRect/>
          </a:stretch>
        </p:blipFill>
        <p:spPr>
          <a:xfrm>
            <a:off x="7692265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9"/>
          <p:cNvPicPr preferRelativeResize="0"/>
          <p:nvPr/>
        </p:nvPicPr>
        <p:blipFill>
          <a:blip r:embed="rId57">
            <a:alphaModFix/>
          </a:blip>
          <a:stretch>
            <a:fillRect/>
          </a:stretch>
        </p:blipFill>
        <p:spPr>
          <a:xfrm>
            <a:off x="8218004" y="116739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9"/>
          <p:cNvPicPr preferRelativeResize="0"/>
          <p:nvPr/>
        </p:nvPicPr>
        <p:blipFill>
          <a:blip r:embed="rId58">
            <a:alphaModFix/>
          </a:blip>
          <a:stretch>
            <a:fillRect/>
          </a:stretch>
        </p:blipFill>
        <p:spPr>
          <a:xfrm>
            <a:off x="7631405" y="118047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9"/>
          <p:cNvPicPr preferRelativeResize="0"/>
          <p:nvPr/>
        </p:nvPicPr>
        <p:blipFill>
          <a:blip r:embed="rId59">
            <a:alphaModFix/>
          </a:blip>
          <a:stretch>
            <a:fillRect/>
          </a:stretch>
        </p:blipFill>
        <p:spPr>
          <a:xfrm>
            <a:off x="8164542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9"/>
          <p:cNvPicPr preferRelativeResize="0"/>
          <p:nvPr/>
        </p:nvPicPr>
        <p:blipFill>
          <a:blip r:embed="rId60">
            <a:alphaModFix/>
          </a:blip>
          <a:stretch>
            <a:fillRect/>
          </a:stretch>
        </p:blipFill>
        <p:spPr>
          <a:xfrm>
            <a:off x="7666734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9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3495732" y="58331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9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7197364" y="4023550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9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7175125" y="3370459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9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8193251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9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2337816" y="2058480"/>
            <a:ext cx="443210" cy="44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9"/>
          <p:cNvPicPr preferRelativeResize="0"/>
          <p:nvPr/>
        </p:nvPicPr>
        <p:blipFill>
          <a:blip r:embed="rId66">
            <a:alphaModFix/>
          </a:blip>
          <a:stretch>
            <a:fillRect/>
          </a:stretch>
        </p:blipFill>
        <p:spPr>
          <a:xfrm>
            <a:off x="2775062" y="1388632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9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5056303" y="4700669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9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5476501" y="4711956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9"/>
          <p:cNvPicPr preferRelativeResize="0"/>
          <p:nvPr/>
        </p:nvPicPr>
        <p:blipFill>
          <a:blip r:embed="rId69">
            <a:alphaModFix/>
          </a:blip>
          <a:stretch>
            <a:fillRect/>
          </a:stretch>
        </p:blipFill>
        <p:spPr>
          <a:xfrm>
            <a:off x="2691814" y="2761497"/>
            <a:ext cx="437718" cy="43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9"/>
          <p:cNvPicPr preferRelativeResize="0"/>
          <p:nvPr/>
        </p:nvPicPr>
        <p:blipFill>
          <a:blip r:embed="rId70">
            <a:alphaModFix/>
          </a:blip>
          <a:stretch>
            <a:fillRect/>
          </a:stretch>
        </p:blipFill>
        <p:spPr>
          <a:xfrm>
            <a:off x="3835523" y="1440998"/>
            <a:ext cx="617475" cy="6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4540306" y="1419187"/>
            <a:ext cx="729762" cy="72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/>
          <p:nvPr/>
        </p:nvSpPr>
        <p:spPr>
          <a:xfrm>
            <a:off x="5386000" y="197300"/>
            <a:ext cx="3467400" cy="2147400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7" name="Google Shape;33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677" y="1327053"/>
            <a:ext cx="1812680" cy="6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7700" y="489978"/>
            <a:ext cx="1812644" cy="627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6748" y="670077"/>
            <a:ext cx="941925" cy="120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0300" y="2760755"/>
            <a:ext cx="1883234" cy="780798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341" name="Google Shape;341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72170" y="3726284"/>
            <a:ext cx="1948175" cy="765766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342" name="Google Shape;342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95668" y="510640"/>
            <a:ext cx="765850" cy="112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92750" y="586627"/>
            <a:ext cx="1397868" cy="108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8750" y="623231"/>
            <a:ext cx="880325" cy="899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7775" y="1972625"/>
            <a:ext cx="880324" cy="87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38025" y="1871888"/>
            <a:ext cx="1081150" cy="10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95678" y="3300686"/>
            <a:ext cx="941925" cy="101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108466" y="1689619"/>
            <a:ext cx="880325" cy="1348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5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77949" y="3180927"/>
            <a:ext cx="941925" cy="1087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Шаблоны, которые вы можете использовать для рассказа о своем проекте</a:t>
            </a:r>
            <a:endParaRPr/>
          </a:p>
        </p:txBody>
      </p:sp>
      <p:pic>
        <p:nvPicPr>
          <p:cNvPr id="355" name="Google Shape;3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>
            <a:spLocks noGrp="1"/>
          </p:cNvSpPr>
          <p:nvPr>
            <p:ph type="title"/>
          </p:nvPr>
        </p:nvSpPr>
        <p:spPr>
          <a:xfrm>
            <a:off x="548556" y="1594106"/>
            <a:ext cx="73797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venir"/>
              <a:buNone/>
            </a:pPr>
            <a:r>
              <a:rPr lang="ru"/>
              <a:t>Материал для моделирования</a:t>
            </a:r>
            <a:endParaRPr sz="3600">
              <a:solidFill>
                <a:srgbClr val="FBFBFE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52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name="adj" fmla="val 16667"/>
            </a:avLst>
          </a:prstGeom>
          <a:solidFill>
            <a:srgbClr val="40299B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Название подтемы</a:t>
            </a:r>
            <a:endParaRPr sz="34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62" name="Google Shape;36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100" y="1077650"/>
            <a:ext cx="1078825" cy="12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3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lang="ru" sz="5300" b="1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Определение – это</a:t>
            </a:r>
            <a:endParaRPr sz="2300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68" name="Google Shape;368;p53"/>
          <p:cNvSpPr txBox="1"/>
          <p:nvPr/>
        </p:nvSpPr>
        <p:spPr>
          <a:xfrm>
            <a:off x="721500" y="1984175"/>
            <a:ext cx="7403400" cy="17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описание данных в виде набора сущностей, отношений между ними, атрибутов сущностей,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их типов данных, соглашений об именовании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правил проверки целостностей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Слайды с “кнопками” </a:t>
            </a:r>
            <a:endParaRPr/>
          </a:p>
        </p:txBody>
      </p:sp>
      <p:sp>
        <p:nvSpPr>
          <p:cNvPr id="374" name="Google Shape;374;p54"/>
          <p:cNvSpPr/>
          <p:nvPr/>
        </p:nvSpPr>
        <p:spPr>
          <a:xfrm>
            <a:off x="720000" y="1534575"/>
            <a:ext cx="5400900" cy="1427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Тезис 1/Определение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54"/>
          <p:cNvSpPr/>
          <p:nvPr/>
        </p:nvSpPr>
        <p:spPr>
          <a:xfrm>
            <a:off x="720000" y="3285100"/>
            <a:ext cx="5400900" cy="14274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Тезис 2 (выбирая его, словно щелкаем на него мышью,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в следующем слайде раскрываем выбранную 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мысль полностью) / Определение 2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76" name="Google Shape;37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550" y="388995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5"/>
          <p:cNvSpPr/>
          <p:nvPr/>
        </p:nvSpPr>
        <p:spPr>
          <a:xfrm>
            <a:off x="1010550" y="1550450"/>
            <a:ext cx="6878100" cy="14274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Определение</a:t>
            </a: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– </a:t>
            </a: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их типов данных, соглашений об именовании и правил проверки целостностей 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2" name="Google Shape;38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1800" y="231210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6"/>
          <p:cNvSpPr txBox="1">
            <a:spLocks noGrp="1"/>
          </p:cNvSpPr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Заголовок: главная мысль слайда </a:t>
            </a:r>
            <a:endParaRPr/>
          </a:p>
        </p:txBody>
      </p:sp>
      <p:sp>
        <p:nvSpPr>
          <p:cNvPr id="388" name="Google Shape;388;p56"/>
          <p:cNvSpPr txBox="1">
            <a:spLocks noGrp="1"/>
          </p:cNvSpPr>
          <p:nvPr>
            <p:ph type="title"/>
          </p:nvPr>
        </p:nvSpPr>
        <p:spPr>
          <a:xfrm>
            <a:off x="611950" y="938325"/>
            <a:ext cx="67242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>
                <a:latin typeface="Roboto Medium"/>
                <a:ea typeface="Roboto Medium"/>
                <a:cs typeface="Roboto Medium"/>
                <a:sym typeface="Roboto Medium"/>
              </a:rPr>
              <a:t>Подзаголовок – дополнение к основной мысли</a:t>
            </a:r>
            <a:endParaRPr sz="1500"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9" name="Google Shape;389;p56"/>
          <p:cNvSpPr txBox="1"/>
          <p:nvPr/>
        </p:nvSpPr>
        <p:spPr>
          <a:xfrm>
            <a:off x="662850" y="1917013"/>
            <a:ext cx="4092000" cy="19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Источников много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от клиента может проходить через несколько различных микросервисов, причем в зависимости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различных аспектов, этот путь может состоять из разных узлов.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56"/>
          <p:cNvSpPr/>
          <p:nvPr/>
        </p:nvSpPr>
        <p:spPr>
          <a:xfrm>
            <a:off x="6203150" y="1392225"/>
            <a:ext cx="2490600" cy="3093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sp>
        <p:nvSpPr>
          <p:cNvPr id="396" name="Google Shape;396;p57"/>
          <p:cNvSpPr txBox="1"/>
          <p:nvPr/>
        </p:nvSpPr>
        <p:spPr>
          <a:xfrm>
            <a:off x="611950" y="1269600"/>
            <a:ext cx="60666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и поговорим 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 мониторинге работы самих приложений.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метрик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 приложений и что такое трассировка.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клиента может проходить через несколько различных микросервисов.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 зависимости от различных аспектов, этот путь может состоять из разных узлов.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8"/>
          <p:cNvSpPr txBox="1"/>
          <p:nvPr/>
        </p:nvSpPr>
        <p:spPr>
          <a:xfrm>
            <a:off x="800575" y="1349525"/>
            <a:ext cx="7224600" cy="30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с приложений и что такое трассировка.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осуществлять сбор количественных показателей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 событиям, формирующим тренды с помощью метрик.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58"/>
          <p:cNvSpPr txBox="1">
            <a:spLocks noGrp="1"/>
          </p:cNvSpPr>
          <p:nvPr>
            <p:ph type="title"/>
          </p:nvPr>
        </p:nvSpPr>
        <p:spPr>
          <a:xfrm>
            <a:off x="611950" y="350875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pic>
        <p:nvPicPr>
          <p:cNvPr id="403" name="Google Shape;40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146812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241075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3353375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>
            <a:spLocks noGrp="1"/>
          </p:cNvSpPr>
          <p:nvPr>
            <p:ph type="title"/>
          </p:nvPr>
        </p:nvSpPr>
        <p:spPr>
          <a:xfrm>
            <a:off x="623400" y="34559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50505"/>
                </a:solidFill>
              </a:rPr>
              <a:t>Слайд со списком </a:t>
            </a:r>
            <a:endParaRPr>
              <a:solidFill>
                <a:srgbClr val="050505"/>
              </a:solidFill>
            </a:endParaRPr>
          </a:p>
        </p:txBody>
      </p:sp>
      <p:graphicFrame>
        <p:nvGraphicFramePr>
          <p:cNvPr id="411" name="Google Shape;411;p59"/>
          <p:cNvGraphicFramePr/>
          <p:nvPr/>
        </p:nvGraphicFramePr>
        <p:xfrm>
          <a:off x="623400" y="139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{7C8DCB2B-1059-4532-A169-3AAE7BECD37C}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>
            <a:spLocks noGrp="1"/>
          </p:cNvSpPr>
          <p:nvPr>
            <p:ph type="title"/>
          </p:nvPr>
        </p:nvSpPr>
        <p:spPr>
          <a:xfrm>
            <a:off x="611950" y="326500"/>
            <a:ext cx="8214300" cy="11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Главная мысль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слайда  </a:t>
            </a:r>
            <a:endParaRPr/>
          </a:p>
        </p:txBody>
      </p:sp>
      <p:sp>
        <p:nvSpPr>
          <p:cNvPr id="417" name="Google Shape;417;p60"/>
          <p:cNvSpPr txBox="1">
            <a:spLocks noGrp="1"/>
          </p:cNvSpPr>
          <p:nvPr>
            <p:ph type="title"/>
          </p:nvPr>
        </p:nvSpPr>
        <p:spPr>
          <a:xfrm>
            <a:off x="611950" y="1646950"/>
            <a:ext cx="4239900" cy="24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В случае, если мы обнаружили превышение </a:t>
            </a: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по какому-то определенному параметру, то </a:t>
            </a: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нам необходимо разобраться в причинах произошедшего, и здесь нам на помощь приходят журналы событий сервисов. </a:t>
            </a: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В логах можно найти много полезной информации касающейся проблем в работе приложения, по сути, если событие в принципе логируется, то мы можем его найти и проанализировать.</a:t>
            </a:r>
            <a:endParaRPr sz="1300" b="0"/>
          </a:p>
        </p:txBody>
      </p:sp>
      <p:sp>
        <p:nvSpPr>
          <p:cNvPr id="418" name="Google Shape;418;p60"/>
          <p:cNvSpPr txBox="1"/>
          <p:nvPr/>
        </p:nvSpPr>
        <p:spPr>
          <a:xfrm>
            <a:off x="611950" y="4496675"/>
            <a:ext cx="4239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ссылка на источник кегль 11: </a:t>
            </a:r>
            <a:r>
              <a:rPr lang="ru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https://habr.com/ru/companies/rosatom/articles/841842/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60"/>
          <p:cNvSpPr/>
          <p:nvPr/>
        </p:nvSpPr>
        <p:spPr>
          <a:xfrm>
            <a:off x="5306100" y="0"/>
            <a:ext cx="38379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>
            <a:spLocks noGrp="1"/>
          </p:cNvSpPr>
          <p:nvPr>
            <p:ph type="title"/>
          </p:nvPr>
        </p:nvSpPr>
        <p:spPr>
          <a:xfrm>
            <a:off x="623400" y="42597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3 колонками</a:t>
            </a:r>
            <a:endParaRPr/>
          </a:p>
        </p:txBody>
      </p:sp>
      <p:sp>
        <p:nvSpPr>
          <p:cNvPr id="425" name="Google Shape;425;p61"/>
          <p:cNvSpPr txBox="1"/>
          <p:nvPr/>
        </p:nvSpPr>
        <p:spPr>
          <a:xfrm>
            <a:off x="13943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61"/>
          <p:cNvSpPr txBox="1"/>
          <p:nvPr/>
        </p:nvSpPr>
        <p:spPr>
          <a:xfrm>
            <a:off x="36707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61"/>
          <p:cNvSpPr txBox="1"/>
          <p:nvPr/>
        </p:nvSpPr>
        <p:spPr>
          <a:xfrm>
            <a:off x="59471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3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910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6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61"/>
          <p:cNvGrpSpPr/>
          <p:nvPr/>
        </p:nvGrpSpPr>
        <p:grpSpPr>
          <a:xfrm>
            <a:off x="6080501" y="248200"/>
            <a:ext cx="2783324" cy="1153950"/>
            <a:chOff x="6567151" y="248200"/>
            <a:chExt cx="2783324" cy="1153950"/>
          </a:xfrm>
        </p:grpSpPr>
        <p:pic>
          <p:nvPicPr>
            <p:cNvPr id="432" name="Google Shape;432;p6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67151" y="248200"/>
              <a:ext cx="2783324" cy="1153950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433" name="Google Shape;433;p61"/>
            <p:cNvSpPr txBox="1"/>
            <p:nvPr/>
          </p:nvSpPr>
          <p:spPr>
            <a:xfrm>
              <a:off x="6966546" y="434875"/>
              <a:ext cx="22215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 b="1">
                  <a:latin typeface="Roboto"/>
                  <a:ea typeface="Roboto"/>
                  <a:cs typeface="Roboto"/>
                  <a:sym typeface="Roboto"/>
                </a:rPr>
                <a:t>поменяйте иконки на подходящие по смыслу (слайд 100)</a:t>
              </a:r>
              <a:endParaRPr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2"/>
          <p:cNvSpPr txBox="1">
            <a:spLocks noGrp="1"/>
          </p:cNvSpPr>
          <p:nvPr>
            <p:ph type="title"/>
          </p:nvPr>
        </p:nvSpPr>
        <p:spPr>
          <a:xfrm>
            <a:off x="500550" y="28057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Сравнение двух кейсов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endParaRPr/>
          </a:p>
        </p:txBody>
      </p:sp>
      <p:sp>
        <p:nvSpPr>
          <p:cNvPr id="439" name="Google Shape;439;p62"/>
          <p:cNvSpPr/>
          <p:nvPr/>
        </p:nvSpPr>
        <p:spPr>
          <a:xfrm>
            <a:off x="4795100" y="1522725"/>
            <a:ext cx="3414600" cy="24006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62"/>
          <p:cNvSpPr/>
          <p:nvPr/>
        </p:nvSpPr>
        <p:spPr>
          <a:xfrm>
            <a:off x="934300" y="1522725"/>
            <a:ext cx="3414600" cy="24006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2"/>
          <p:cNvSpPr txBox="1"/>
          <p:nvPr/>
        </p:nvSpPr>
        <p:spPr>
          <a:xfrm>
            <a:off x="1040225" y="1993025"/>
            <a:ext cx="3414600" cy="16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является то, что они поддаются агрегированию, то есть, метрики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похожи на атомы, которые складываются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единый логический индикатор, счетчик или гистограмму за определенный промежуток времени.</a:t>
            </a: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62"/>
          <p:cNvSpPr txBox="1"/>
          <p:nvPr/>
        </p:nvSpPr>
        <p:spPr>
          <a:xfrm>
            <a:off x="5005100" y="2000675"/>
            <a:ext cx="3204600" cy="16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качестве примеров: текущая глубина очереди может быть смоделирована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индикатор, количество входящих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HTTP-запросов может быть смоделировано как счетчик, обновления которого агрегируются простым сложением.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62"/>
          <p:cNvSpPr txBox="1"/>
          <p:nvPr/>
        </p:nvSpPr>
        <p:spPr>
          <a:xfrm>
            <a:off x="1040225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Кейс 1</a:t>
            </a:r>
            <a:endParaRPr sz="1700" b="1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62"/>
          <p:cNvSpPr txBox="1"/>
          <p:nvPr/>
        </p:nvSpPr>
        <p:spPr>
          <a:xfrm>
            <a:off x="5005100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Кейс 2</a:t>
            </a:r>
            <a:endParaRPr sz="1700" b="1">
              <a:solidFill>
                <a:srgbClr val="2AB7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050" y="0"/>
            <a:ext cx="921605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3"/>
          <p:cNvSpPr/>
          <p:nvPr/>
        </p:nvSpPr>
        <p:spPr>
          <a:xfrm>
            <a:off x="1850100" y="804751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63"/>
          <p:cNvSpPr/>
          <p:nvPr/>
        </p:nvSpPr>
        <p:spPr>
          <a:xfrm>
            <a:off x="1850100" y="2134582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63"/>
          <p:cNvSpPr/>
          <p:nvPr/>
        </p:nvSpPr>
        <p:spPr>
          <a:xfrm>
            <a:off x="1850100" y="3464401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63"/>
          <p:cNvSpPr txBox="1"/>
          <p:nvPr/>
        </p:nvSpPr>
        <p:spPr>
          <a:xfrm>
            <a:off x="2234263" y="92850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63"/>
          <p:cNvSpPr txBox="1"/>
          <p:nvPr/>
        </p:nvSpPr>
        <p:spPr>
          <a:xfrm>
            <a:off x="2234263" y="21964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63"/>
          <p:cNvSpPr txBox="1"/>
          <p:nvPr/>
        </p:nvSpPr>
        <p:spPr>
          <a:xfrm>
            <a:off x="2234263" y="35881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Заголовок: главная мысль слайда </a:t>
            </a:r>
            <a:endParaRPr/>
          </a:p>
        </p:txBody>
      </p:sp>
      <p:sp>
        <p:nvSpPr>
          <p:cNvPr id="461" name="Google Shape;461;p64"/>
          <p:cNvSpPr/>
          <p:nvPr/>
        </p:nvSpPr>
        <p:spPr>
          <a:xfrm>
            <a:off x="6148300" y="1441775"/>
            <a:ext cx="2623800" cy="3105900"/>
          </a:xfrm>
          <a:prstGeom prst="roundRect">
            <a:avLst>
              <a:gd name="adj" fmla="val 1397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64"/>
          <p:cNvSpPr txBox="1"/>
          <p:nvPr/>
        </p:nvSpPr>
        <p:spPr>
          <a:xfrm>
            <a:off x="6237700" y="1888650"/>
            <a:ext cx="2445000" cy="2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Место для кейса на полях: разместите здесь пример, иллюстрирующий вашу мысль, интересный факт, ссылку на дополнительный источник информации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и т.д.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3" name="Google Shape;463;p64"/>
          <p:cNvSpPr txBox="1"/>
          <p:nvPr/>
        </p:nvSpPr>
        <p:spPr>
          <a:xfrm>
            <a:off x="600400" y="1584975"/>
            <a:ext cx="5053500" cy="23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Какими средствами и как можно осуществлять сбор метрик с приложений и что такое трассировка.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4" name="Google Shape;46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000" y="3843575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5"/>
          <p:cNvSpPr txBox="1"/>
          <p:nvPr/>
        </p:nvSpPr>
        <p:spPr>
          <a:xfrm>
            <a:off x="567600" y="1572900"/>
            <a:ext cx="39063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Мысль, 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объединяющая пункты списка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70" name="Google Shape;470;p65"/>
          <p:cNvGraphicFramePr/>
          <p:nvPr/>
        </p:nvGraphicFramePr>
        <p:xfrm>
          <a:off x="4917613" y="64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{7C8DCB2B-1059-4532-A169-3AAE7BECD37C}</a:tableStyleId>
              </a:tblPr>
              <a:tblGrid>
                <a:gridCol w="37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5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71" name="Google Shape;47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102470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245367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3882650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7766" y="2154250"/>
            <a:ext cx="1432496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79" name="Google Shape;47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38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0" name="Google Shape;480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8124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1" name="Google Shape;481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327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2" name="Google Shape;482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794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3" name="Google Shape;483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04655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484" name="Google Shape;484;p66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485" name="Google Shape;485;p66"/>
          <p:cNvSpPr txBox="1"/>
          <p:nvPr/>
        </p:nvSpPr>
        <p:spPr>
          <a:xfrm>
            <a:off x="66674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6"/>
          <p:cNvSpPr txBox="1"/>
          <p:nvPr/>
        </p:nvSpPr>
        <p:spPr>
          <a:xfrm>
            <a:off x="2051513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66"/>
          <p:cNvSpPr txBox="1"/>
          <p:nvPr/>
        </p:nvSpPr>
        <p:spPr>
          <a:xfrm>
            <a:off x="342604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66"/>
          <p:cNvSpPr txBox="1"/>
          <p:nvPr/>
        </p:nvSpPr>
        <p:spPr>
          <a:xfrm>
            <a:off x="479697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66"/>
          <p:cNvSpPr txBox="1"/>
          <p:nvPr/>
        </p:nvSpPr>
        <p:spPr>
          <a:xfrm>
            <a:off x="6175865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66"/>
          <p:cNvSpPr txBox="1"/>
          <p:nvPr/>
        </p:nvSpPr>
        <p:spPr>
          <a:xfrm>
            <a:off x="751832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1" name="Google Shape;49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3490" y="3229250"/>
            <a:ext cx="1489885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2" name="Google Shape;49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675" y="3229251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3" name="Google Shape;493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3522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4" name="Google Shape;494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4166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5" name="Google Shape;495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3507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6" name="Google Shape;496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24569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497" name="Google Shape;497;p66"/>
          <p:cNvSpPr txBox="1"/>
          <p:nvPr/>
        </p:nvSpPr>
        <p:spPr>
          <a:xfrm>
            <a:off x="57681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66"/>
          <p:cNvSpPr txBox="1"/>
          <p:nvPr/>
        </p:nvSpPr>
        <p:spPr>
          <a:xfrm>
            <a:off x="201706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66"/>
          <p:cNvSpPr txBox="1"/>
          <p:nvPr/>
        </p:nvSpPr>
        <p:spPr>
          <a:xfrm>
            <a:off x="344666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 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66"/>
          <p:cNvSpPr txBox="1"/>
          <p:nvPr/>
        </p:nvSpPr>
        <p:spPr>
          <a:xfrm>
            <a:off x="487250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66"/>
          <p:cNvSpPr txBox="1"/>
          <p:nvPr/>
        </p:nvSpPr>
        <p:spPr>
          <a:xfrm>
            <a:off x="630664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66"/>
          <p:cNvSpPr txBox="1"/>
          <p:nvPr/>
        </p:nvSpPr>
        <p:spPr>
          <a:xfrm>
            <a:off x="770288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08" name="Google Shape;50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09" name="Google Shape;50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10" name="Google Shape;51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11" name="Google Shape;511;p67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12" name="Google Shape;512;p67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67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67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7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16" name="Google Shape;516;p67"/>
          <p:cNvGraphicFramePr/>
          <p:nvPr/>
        </p:nvGraphicFramePr>
        <p:xfrm>
          <a:off x="92285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{7C8DCB2B-1059-4532-A169-3AAE7BECD37C}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26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2" name="Google Shape;52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6014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3" name="Google Shape;52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6940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4" name="Google Shape;524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7926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5" name="Google Shape;525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8892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26" name="Google Shape;526;p68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27" name="Google Shape;527;p68"/>
          <p:cNvSpPr txBox="1"/>
          <p:nvPr/>
        </p:nvSpPr>
        <p:spPr>
          <a:xfrm>
            <a:off x="7867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68"/>
          <p:cNvSpPr txBox="1"/>
          <p:nvPr/>
        </p:nvSpPr>
        <p:spPr>
          <a:xfrm>
            <a:off x="2436168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68"/>
          <p:cNvSpPr txBox="1"/>
          <p:nvPr/>
        </p:nvSpPr>
        <p:spPr>
          <a:xfrm>
            <a:off x="4057095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68"/>
          <p:cNvSpPr txBox="1"/>
          <p:nvPr/>
        </p:nvSpPr>
        <p:spPr>
          <a:xfrm>
            <a:off x="57380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68"/>
          <p:cNvSpPr txBox="1"/>
          <p:nvPr/>
        </p:nvSpPr>
        <p:spPr>
          <a:xfrm>
            <a:off x="7419047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2" name="Google Shape;532;p68"/>
          <p:cNvGraphicFramePr/>
          <p:nvPr/>
        </p:nvGraphicFramePr>
        <p:xfrm>
          <a:off x="49660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{7C8DCB2B-1059-4532-A169-3AAE7BECD37C}</a:tableStyleId>
              </a:tblPr>
              <a:tblGrid>
                <a:gridCol w="165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775" y="1462600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8" name="Google Shape;53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775" y="217579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9" name="Google Shape;53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9775" y="285206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0" name="Google Shape;540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9775" y="3519916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1" name="Google Shape;541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9775" y="4187778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42" name="Google Shape;542;p69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43" name="Google Shape;543;p69"/>
          <p:cNvSpPr txBox="1"/>
          <p:nvPr/>
        </p:nvSpPr>
        <p:spPr>
          <a:xfrm>
            <a:off x="1508200" y="1552261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9"/>
          <p:cNvSpPr txBox="1"/>
          <p:nvPr/>
        </p:nvSpPr>
        <p:spPr>
          <a:xfrm>
            <a:off x="1508200" y="226545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69"/>
          <p:cNvSpPr txBox="1"/>
          <p:nvPr/>
        </p:nvSpPr>
        <p:spPr>
          <a:xfrm>
            <a:off x="1508200" y="294172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69"/>
          <p:cNvSpPr txBox="1"/>
          <p:nvPr/>
        </p:nvSpPr>
        <p:spPr>
          <a:xfrm>
            <a:off x="1508200" y="3609577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69"/>
          <p:cNvSpPr txBox="1"/>
          <p:nvPr/>
        </p:nvSpPr>
        <p:spPr>
          <a:xfrm>
            <a:off x="1508200" y="4277439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48" name="Google Shape;548;p69"/>
          <p:cNvGraphicFramePr/>
          <p:nvPr/>
        </p:nvGraphicFramePr>
        <p:xfrm>
          <a:off x="2781050" y="143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{7C8DCB2B-1059-4532-A169-3AAE7BECD37C}</a:tableStyleId>
              </a:tblPr>
              <a:tblGrid>
                <a:gridCol w="549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9166" y="1028450"/>
            <a:ext cx="5861734" cy="42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70"/>
          <p:cNvSpPr/>
          <p:nvPr/>
        </p:nvSpPr>
        <p:spPr>
          <a:xfrm>
            <a:off x="4701625" y="171770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5652425" y="2842775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70"/>
          <p:cNvSpPr/>
          <p:nvPr/>
        </p:nvSpPr>
        <p:spPr>
          <a:xfrm>
            <a:off x="5197600" y="396785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0"/>
          <p:cNvSpPr/>
          <p:nvPr/>
        </p:nvSpPr>
        <p:spPr>
          <a:xfrm>
            <a:off x="3180175" y="428725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70"/>
          <p:cNvSpPr/>
          <p:nvPr/>
        </p:nvSpPr>
        <p:spPr>
          <a:xfrm>
            <a:off x="1617075" y="3521863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70"/>
          <p:cNvSpPr/>
          <p:nvPr/>
        </p:nvSpPr>
        <p:spPr>
          <a:xfrm>
            <a:off x="1380700" y="257470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70"/>
          <p:cNvSpPr txBox="1"/>
          <p:nvPr/>
        </p:nvSpPr>
        <p:spPr>
          <a:xfrm>
            <a:off x="592975" y="381950"/>
            <a:ext cx="8550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Определения, которые нужно сгруппировать</a:t>
            </a:r>
            <a:endParaRPr/>
          </a:p>
        </p:txBody>
      </p:sp>
      <p:sp>
        <p:nvSpPr>
          <p:cNvPr id="561" name="Google Shape;561;p70"/>
          <p:cNvSpPr txBox="1"/>
          <p:nvPr/>
        </p:nvSpPr>
        <p:spPr>
          <a:xfrm>
            <a:off x="3457909" y="2796575"/>
            <a:ext cx="1739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Центральное</a:t>
            </a:r>
            <a:endParaRPr sz="18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8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70"/>
          <p:cNvSpPr/>
          <p:nvPr/>
        </p:nvSpPr>
        <p:spPr>
          <a:xfrm>
            <a:off x="2537225" y="1627525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0"/>
          <p:cNvSpPr txBox="1"/>
          <p:nvPr/>
        </p:nvSpPr>
        <p:spPr>
          <a:xfrm>
            <a:off x="1499775" y="2690200"/>
            <a:ext cx="1395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70"/>
          <p:cNvSpPr txBox="1"/>
          <p:nvPr/>
        </p:nvSpPr>
        <p:spPr>
          <a:xfrm>
            <a:off x="2609976" y="1762525"/>
            <a:ext cx="1476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70"/>
          <p:cNvSpPr txBox="1"/>
          <p:nvPr/>
        </p:nvSpPr>
        <p:spPr>
          <a:xfrm>
            <a:off x="4802581" y="183320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70"/>
          <p:cNvSpPr txBox="1"/>
          <p:nvPr/>
        </p:nvSpPr>
        <p:spPr>
          <a:xfrm>
            <a:off x="5760402" y="2958263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70"/>
          <p:cNvSpPr txBox="1"/>
          <p:nvPr/>
        </p:nvSpPr>
        <p:spPr>
          <a:xfrm>
            <a:off x="5301135" y="408335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70"/>
          <p:cNvSpPr txBox="1"/>
          <p:nvPr/>
        </p:nvSpPr>
        <p:spPr>
          <a:xfrm>
            <a:off x="3295713" y="4402745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70"/>
          <p:cNvSpPr txBox="1"/>
          <p:nvPr/>
        </p:nvSpPr>
        <p:spPr>
          <a:xfrm>
            <a:off x="1718200" y="3617868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1"/>
          <p:cNvSpPr txBox="1">
            <a:spLocks noGrp="1"/>
          </p:cNvSpPr>
          <p:nvPr>
            <p:ph type="title"/>
          </p:nvPr>
        </p:nvSpPr>
        <p:spPr>
          <a:xfrm>
            <a:off x="623400" y="42054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1</a:t>
            </a:r>
            <a:endParaRPr/>
          </a:p>
        </p:txBody>
      </p:sp>
      <p:sp>
        <p:nvSpPr>
          <p:cNvPr id="575" name="Google Shape;575;p71"/>
          <p:cNvSpPr txBox="1">
            <a:spLocks noGrp="1"/>
          </p:cNvSpPr>
          <p:nvPr>
            <p:ph type="subTitle" idx="1"/>
          </p:nvPr>
        </p:nvSpPr>
        <p:spPr>
          <a:xfrm>
            <a:off x="754725" y="1516450"/>
            <a:ext cx="8029200" cy="34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71"/>
          <p:cNvSpPr/>
          <p:nvPr/>
        </p:nvSpPr>
        <p:spPr>
          <a:xfrm>
            <a:off x="2382100" y="2921900"/>
            <a:ext cx="1524900" cy="189300"/>
          </a:xfrm>
          <a:prstGeom prst="rect">
            <a:avLst/>
          </a:prstGeom>
          <a:noFill/>
          <a:ln w="9525" cap="flat" cmpd="sng">
            <a:solidFill>
              <a:srgbClr val="013D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71"/>
          <p:cNvSpPr/>
          <p:nvPr/>
        </p:nvSpPr>
        <p:spPr>
          <a:xfrm>
            <a:off x="5605325" y="2159450"/>
            <a:ext cx="2663700" cy="45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13D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 * 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int*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600"/>
          </a:p>
        </p:txBody>
      </p:sp>
      <p:cxnSp>
        <p:nvCxnSpPr>
          <p:cNvPr id="578" name="Google Shape;578;p71"/>
          <p:cNvCxnSpPr>
            <a:stCxn id="577" idx="1"/>
            <a:endCxn id="576" idx="3"/>
          </p:cNvCxnSpPr>
          <p:nvPr/>
        </p:nvCxnSpPr>
        <p:spPr>
          <a:xfrm flipH="1">
            <a:off x="3907025" y="2386250"/>
            <a:ext cx="1698300" cy="6303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2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2</a:t>
            </a:r>
            <a:endParaRPr/>
          </a:p>
        </p:txBody>
      </p:sp>
      <p:sp>
        <p:nvSpPr>
          <p:cNvPr id="584" name="Google Shape;584;p72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3</a:t>
            </a:r>
            <a:endParaRPr/>
          </a:p>
        </p:txBody>
      </p:sp>
      <p:sp>
        <p:nvSpPr>
          <p:cNvPr id="590" name="Google Shape;590;p73"/>
          <p:cNvSpPr txBox="1">
            <a:spLocks noGrp="1"/>
          </p:cNvSpPr>
          <p:nvPr>
            <p:ph type="subTitle" idx="1"/>
          </p:nvPr>
        </p:nvSpPr>
        <p:spPr>
          <a:xfrm>
            <a:off x="754725" y="1516450"/>
            <a:ext cx="8181900" cy="32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int **a;  // указатель на указатель на строку элементов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int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system("chcp 1251");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system("cls");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строк: 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столбцов: 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Выделение памяти под указатели на строки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(int**)malloc(n * sizeof(int*));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Ввод элементов массива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for (i = 0; i&lt;n; i++)  // цикл по строкам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// Выделение памяти под хранение строк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(int*)malloc(m * sizeof(int));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for (j = 0; j&lt;m; j++)  // цикл по столбцам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printf("a[%d][%d] = ", i, j);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scanf("%d", &amp;a[i][j]);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}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и текстом </a:t>
            </a:r>
            <a:endParaRPr/>
          </a:p>
        </p:txBody>
      </p:sp>
      <p:sp>
        <p:nvSpPr>
          <p:cNvPr id="596" name="Google Shape;596;p7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</a:t>
            </a:r>
            <a:r>
              <a:rPr lang="ru">
                <a:solidFill>
                  <a:srgbClr val="0645AD"/>
                </a:solidFill>
              </a:rPr>
              <a:t> 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строку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/>
          </a:p>
        </p:txBody>
      </p:sp>
      <p:sp>
        <p:nvSpPr>
          <p:cNvPr id="597" name="Google Shape;597;p74"/>
          <p:cNvSpPr txBox="1">
            <a:spLocks noGrp="1"/>
          </p:cNvSpPr>
          <p:nvPr>
            <p:ph type="subTitle" idx="1"/>
          </p:nvPr>
        </p:nvSpPr>
        <p:spPr>
          <a:xfrm>
            <a:off x="530000" y="1152250"/>
            <a:ext cx="7862400" cy="8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1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2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3</a:t>
            </a:r>
            <a:endParaRPr sz="15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5"/>
          <p:cNvSpPr txBox="1">
            <a:spLocks noGrp="1"/>
          </p:cNvSpPr>
          <p:nvPr>
            <p:ph type="title"/>
          </p:nvPr>
        </p:nvSpPr>
        <p:spPr>
          <a:xfrm>
            <a:off x="654850" y="40114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3" name="Google Shape;603;p75"/>
          <p:cNvGraphicFramePr/>
          <p:nvPr/>
        </p:nvGraphicFramePr>
        <p:xfrm>
          <a:off x="654850" y="13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{7C8DCB2B-1059-4532-A169-3AAE7BECD37C}</a:tableStyleId>
              </a:tblPr>
              <a:tblGrid>
                <a:gridCol w="226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6"/>
          <p:cNvSpPr txBox="1">
            <a:spLocks noGrp="1"/>
          </p:cNvSpPr>
          <p:nvPr>
            <p:ph type="title"/>
          </p:nvPr>
        </p:nvSpPr>
        <p:spPr>
          <a:xfrm>
            <a:off x="608700" y="4294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9" name="Google Shape;609;p76"/>
          <p:cNvGraphicFramePr/>
          <p:nvPr/>
        </p:nvGraphicFramePr>
        <p:xfrm>
          <a:off x="608700" y="137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{7C8DCB2B-1059-4532-A169-3AAE7BECD37C}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"/>
            <a:ext cx="9144003" cy="5103318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7"/>
          <p:cNvSpPr txBox="1"/>
          <p:nvPr/>
        </p:nvSpPr>
        <p:spPr>
          <a:xfrm>
            <a:off x="720000" y="696425"/>
            <a:ext cx="7130700" cy="3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Единственно верного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решения не существует.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Хотя существует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много неверных.</a:t>
            </a:r>
            <a:endParaRPr sz="5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endParaRPr sz="25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6" name="Google Shape;616;p77"/>
          <p:cNvSpPr txBox="1"/>
          <p:nvPr/>
        </p:nvSpPr>
        <p:spPr>
          <a:xfrm>
            <a:off x="5527975" y="3851825"/>
            <a:ext cx="3416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Дэвид Акин, NASA</a:t>
            </a:r>
            <a:endParaRPr sz="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2981</Words>
  <Application>Microsoft Office PowerPoint</Application>
  <PresentationFormat>Экран (16:9)</PresentationFormat>
  <Paragraphs>362</Paragraphs>
  <Slides>49</Slides>
  <Notes>49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49</vt:i4>
      </vt:variant>
    </vt:vector>
  </HeadingPairs>
  <TitlesOfParts>
    <vt:vector size="57" baseType="lpstr">
      <vt:lpstr>Arial</vt:lpstr>
      <vt:lpstr>Roboto Medium</vt:lpstr>
      <vt:lpstr>Roboto</vt:lpstr>
      <vt:lpstr>Avenir</vt:lpstr>
      <vt:lpstr>Courier New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Использование evpn route type 5 маршрутов   </vt:lpstr>
      <vt:lpstr>План защиты</vt:lpstr>
      <vt:lpstr>Презентация PowerPoint</vt:lpstr>
      <vt:lpstr>Какие технологии использовались </vt:lpstr>
      <vt:lpstr>Cхема стенда </vt:lpstr>
      <vt:lpstr>Как передать Route type 5 маршрут? </vt:lpstr>
      <vt:lpstr>Что такое VRF-система и зачем она нам нужна? </vt:lpstr>
      <vt:lpstr>Пример вывода Route type 5 маршрутов </vt:lpstr>
      <vt:lpstr>Пример основных настроек </vt:lpstr>
      <vt:lpstr>Выводы </vt:lpstr>
      <vt:lpstr>Выводы </vt:lpstr>
      <vt:lpstr>Выводы </vt:lpstr>
      <vt:lpstr>Презентация PowerPoint</vt:lpstr>
      <vt:lpstr>Спасибо за внимание!</vt:lpstr>
      <vt:lpstr>Презентация PowerPoint</vt:lpstr>
      <vt:lpstr>Инструменты для работы с презентацией</vt:lpstr>
      <vt:lpstr>Презентация PowerPoint</vt:lpstr>
      <vt:lpstr>Презентация PowerPoint</vt:lpstr>
      <vt:lpstr>Презентация PowerPoint</vt:lpstr>
      <vt:lpstr>Презентация PowerPoint</vt:lpstr>
      <vt:lpstr>Шаблоны, которые вы можете использовать для рассказа о своем проекте</vt:lpstr>
      <vt:lpstr>Материал для моделирования </vt:lpstr>
      <vt:lpstr>Презентация PowerPoint</vt:lpstr>
      <vt:lpstr>Слайды с “кнопками” </vt:lpstr>
      <vt:lpstr>Презентация PowerPoint</vt:lpstr>
      <vt:lpstr>Заголовок: главная мысль слайда </vt:lpstr>
      <vt:lpstr>Главная мысль слайда</vt:lpstr>
      <vt:lpstr>Главная мысль слайда</vt:lpstr>
      <vt:lpstr>Слайд со списком </vt:lpstr>
      <vt:lpstr>Главная мысль  слайда  </vt:lpstr>
      <vt:lpstr>Слайд с 3 колонками</vt:lpstr>
      <vt:lpstr>Сравнение двух кейсов  </vt:lpstr>
      <vt:lpstr>Презентация PowerPoint</vt:lpstr>
      <vt:lpstr>Заголовок: главная мысль слайда </vt:lpstr>
      <vt:lpstr>Презентация PowerPoint</vt:lpstr>
      <vt:lpstr>Процесс через этапы </vt:lpstr>
      <vt:lpstr>Процесс через этапы </vt:lpstr>
      <vt:lpstr>Процесс через этапы </vt:lpstr>
      <vt:lpstr>Процесс через этапы </vt:lpstr>
      <vt:lpstr>Презентация PowerPoint</vt:lpstr>
      <vt:lpstr>Слайд с кодом 1</vt:lpstr>
      <vt:lpstr>Слайд с кодом 2</vt:lpstr>
      <vt:lpstr>Слайд с кодом 3</vt:lpstr>
      <vt:lpstr>Слайд с кодом и текстом </vt:lpstr>
      <vt:lpstr>Слайд с таблицей</vt:lpstr>
      <vt:lpstr>Слайд с таблицей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Ивкин Дмитрий Михайлович</dc:creator>
  <cp:lastModifiedBy>Ивкин Дмитрий Михайлович</cp:lastModifiedBy>
  <cp:revision>19</cp:revision>
  <dcterms:modified xsi:type="dcterms:W3CDTF">2026-03-18T17:00:07Z</dcterms:modified>
</cp:coreProperties>
</file>